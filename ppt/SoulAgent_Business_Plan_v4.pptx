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Noto Sans SC"/>
              </a:defRPr>
            </a:pPr>
            <a:r>
              <a:t>Personal Intelligence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  <a:latin typeface="Noto Sans SC"/>
              </a:defRPr>
            </a:pPr>
            <a:r>
              <a:t>SoulAgent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Noto Sans SC"/>
              </a:defRPr>
            </a:pPr>
            <a:r>
              <a:t>从千人一面的通用智能，到千人千面的个人智能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Noto Sans SC"/>
              </a:defRPr>
            </a:pPr>
            <a:r>
              <a:t>记住你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20624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Noto Sans SC"/>
              </a:defRPr>
            </a:pPr>
            <a:r>
              <a:t>理解你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20624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Noto Sans SC"/>
              </a:defRPr>
            </a:pPr>
            <a:r>
              <a:t>适应你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1645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Noto Sans SC"/>
              </a:defRPr>
            </a:pPr>
            <a:r>
              <a:t>替你行动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“ 不做世界上最聪明的 AI，做世界上最懂你的 AI。未来，每个人都应该拥有一个真正属于自己的 AI。 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P2｜行业演进与趋势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Noto Sans SC"/>
              </a:defRPr>
            </a:pPr>
            <a:r>
              <a:t>从“通用问答”到“工具执行”，未来是懂你的“个人智能”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5097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Noto Sans SC"/>
              </a:defRPr>
            </a:pPr>
            <a:r>
              <a:t>AI 已经从“回答问题”演进到“替你做事”，但未来绝非仅仅是工具能力的增强，而是真正理解个人意图与隐性 Context 的个人智能。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64748B"/>
                </a:solidFill>
                <a:latin typeface="Noto Sans SC"/>
              </a:defRPr>
            </a:pPr>
            <a:r>
              <a:t>【 过去 】</a:t>
            </a:r>
          </a:p>
          <a:p>
            <a:pPr>
              <a:defRPr sz="1600" b="1">
                <a:solidFill>
                  <a:srgbClr val="64748B"/>
                </a:solidFill>
                <a:latin typeface="Noto Sans SC"/>
              </a:defRPr>
            </a:pPr>
            <a:r>
              <a:t>大语言模型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ChatGPT · 豆包 · DeepSeek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交互方式：你问我答（单次被动响应）</a:t>
            </a:r>
            <a:br/>
            <a:r>
              <a:t>• 能力本质：海量通用数据概率生成</a:t>
            </a:r>
          </a:p>
          <a:p>
            <a:pPr>
              <a:spcAft>
                <a:spcPts val="800"/>
              </a:spcAft>
              <a:defRPr sz="900">
                <a:solidFill>
                  <a:srgbClr val="475569"/>
                </a:solidFill>
                <a:latin typeface="Noto Sans SC"/>
              </a:defRPr>
            </a:pPr>
            <a:r>
              <a:t>具象场景：</a:t>
            </a:r>
            <a:br/>
            <a:r>
              <a:t>你说：“帮我写一份业务汇报PPT大纲”</a:t>
            </a:r>
            <a:br/>
            <a:r>
              <a:t>➔ AI：给出通用的PPT标准大纲框架（需你自己从头填补业务内容）。</a:t>
            </a:r>
          </a:p>
          <a:p>
            <a:pPr algn="ctr">
              <a:defRPr sz="1000" b="1">
                <a:solidFill>
                  <a:srgbClr val="64748B"/>
                </a:solidFill>
                <a:latin typeface="Noto Sans SC"/>
              </a:defRPr>
            </a:pPr>
            <a:r>
              <a:t>“能回答问题，但无法执行任务”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7C3AED"/>
                </a:solidFill>
                <a:latin typeface="Noto Sans SC"/>
              </a:defRPr>
            </a:pPr>
            <a:r>
              <a:t>【 当前 】</a:t>
            </a:r>
          </a:p>
          <a:p>
            <a:pPr>
              <a:defRPr sz="1600" b="1">
                <a:solidFill>
                  <a:srgbClr val="7C3AED"/>
                </a:solidFill>
                <a:latin typeface="Noto Sans SC"/>
              </a:defRPr>
            </a:pPr>
            <a:r>
              <a:t>智能体 (Agent)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Claude Code · WorkBuddy · Manus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交互方式：你下令我执行（多步工具调用）</a:t>
            </a:r>
            <a:br/>
            <a:r>
              <a:t>• 能力本质：任务驱动的自动流程调度</a:t>
            </a:r>
          </a:p>
          <a:p>
            <a:pPr>
              <a:spcAft>
                <a:spcPts val="800"/>
              </a:spcAft>
              <a:defRPr sz="900">
                <a:solidFill>
                  <a:srgbClr val="475569"/>
                </a:solidFill>
                <a:latin typeface="Noto Sans SC"/>
              </a:defRPr>
            </a:pPr>
            <a:r>
              <a:t>具象场景：</a:t>
            </a:r>
            <a:br/>
            <a:r>
              <a:t>你说：“读这5个文件，提取Q3营收做成PPT发邮件给张总”</a:t>
            </a:r>
            <a:br/>
            <a:r>
              <a:t>➔ AI：调用工具自动抽取并排版发送，但必须指令完备，无法理解隐形需求、不具备个性化风格。</a:t>
            </a:r>
          </a:p>
          <a:p>
            <a:pPr algn="ctr">
              <a:defRPr sz="1000" b="1">
                <a:solidFill>
                  <a:srgbClr val="7C3AED"/>
                </a:solidFill>
                <a:latin typeface="Noto Sans SC"/>
              </a:defRPr>
            </a:pPr>
            <a:r>
              <a:t>“能做很多事，但需要给全背景和详细指引”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2563EB"/>
                </a:solidFill>
                <a:latin typeface="Noto Sans SC"/>
              </a:defRPr>
            </a:pPr>
            <a:r>
              <a:t>【 未来 】</a:t>
            </a:r>
          </a:p>
          <a:p>
            <a:pPr>
              <a:defRPr sz="1600" b="1">
                <a:solidFill>
                  <a:srgbClr val="2563EB"/>
                </a:solidFill>
                <a:latin typeface="Noto Sans SC"/>
              </a:defRPr>
            </a:pPr>
            <a:r>
              <a:t>个人智能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SoulAgent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交互方式：意图感知 + 主动协同（隐性理解）</a:t>
            </a:r>
            <a:br/>
            <a:r>
              <a:t>• 能力本质：用户认知模型 + 长期 Context</a:t>
            </a:r>
          </a:p>
          <a:p>
            <a:pPr>
              <a:spcAft>
                <a:spcPts val="800"/>
              </a:spcAft>
              <a:defRPr sz="900">
                <a:solidFill>
                  <a:srgbClr val="475569"/>
                </a:solidFill>
                <a:latin typeface="Noto Sans SC"/>
              </a:defRPr>
            </a:pPr>
            <a:r>
              <a:t>具象场景：</a:t>
            </a:r>
            <a:br/>
            <a:r>
              <a:t>你说：“周一跟张总的复盘会帮我准备下”</a:t>
            </a:r>
            <a:br/>
            <a:r>
              <a:t>➔ AI：通过近期交互识别相关内容重点，结合历史方案反馈，理解你的汇报偏好，直接生成贴合你立场的专属方案草稿。</a:t>
            </a:r>
          </a:p>
          <a:p>
            <a:pPr algn="ctr">
              <a:defRPr sz="1000" b="1">
                <a:solidFill>
                  <a:srgbClr val="2563EB"/>
                </a:solidFill>
                <a:latin typeface="Noto Sans SC"/>
              </a:defRPr>
            </a:pPr>
            <a:r>
              <a:t>“懂做事，懂业务上下文，更懂你的心思”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P3｜问题定义与三大痛点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Noto Sans SC"/>
              </a:defRPr>
            </a:pPr>
            <a:r>
              <a:t>为什么跟智能体协作总是很费劲？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5097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Noto Sans SC"/>
              </a:defRPr>
            </a:pPr>
            <a:r>
              <a:t>提示词门槛高、碎片信息难以沉淀、记忆死板缺乏认知——让智能体始终难以发挥出应有的协作价值。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9144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286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Noto Sans SC"/>
              </a:defRPr>
            </a:pPr>
            <a:r>
              <a:t>痛点 01 ｜ 表达门槛高</a:t>
            </a:r>
          </a:p>
          <a:p>
            <a:pPr>
              <a:defRPr sz="1500" b="1">
                <a:solidFill>
                  <a:srgbClr val="0F172A"/>
                </a:solidFill>
                <a:latin typeface="Noto Sans SC"/>
              </a:defRPr>
            </a:pPr>
            <a:r>
              <a:t>写不好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18488"/>
            <a:ext cx="548640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高质量 Prompt 门槛极高，通用模板难以适配个性化业务；人脑中的背景与隐性偏好，无法仅凭简短指令完整表达。</a:t>
            </a:r>
          </a:p>
          <a:p>
            <a:pPr>
              <a:defRPr sz="900" b="1">
                <a:solidFill>
                  <a:srgbClr val="475569"/>
                </a:solidFill>
                <a:latin typeface="Noto Sans SC"/>
              </a:defRPr>
            </a:pPr>
            <a:r>
              <a:t>现实困境：意图难言尽。简单提问只得空泛套话，反复调试提示词耗时费力，沟通成本远超预期。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73352"/>
            <a:ext cx="2194560" cy="9144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F1239"/>
                </a:solidFill>
                <a:latin typeface="Noto Sans SC"/>
              </a:defRPr>
            </a:pPr>
            <a:r>
              <a:t>过度依赖提示词技巧</a:t>
            </a:r>
            <a:br/>
            <a:r>
              <a:t>门槛高、调试累，难达预期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91440" cy="1280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2286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Noto Sans SC"/>
              </a:defRPr>
            </a:pPr>
            <a:r>
              <a:t>痛点 02 ｜ 缺乏统一中枢</a:t>
            </a:r>
          </a:p>
          <a:p>
            <a:pPr>
              <a:defRPr sz="1500" b="1">
                <a:solidFill>
                  <a:srgbClr val="0F172A"/>
                </a:solidFill>
                <a:latin typeface="Noto Sans SC"/>
              </a:defRPr>
            </a:pPr>
            <a:r>
              <a:t>信息碎片化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35808"/>
            <a:ext cx="548640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日常会议、行业视听与专业材料分散各处，缺乏统一的感知与沉淀中枢；传统 AI 仅能被动等待投喂，无法主动捕捉关键增量。</a:t>
            </a:r>
          </a:p>
          <a:p>
            <a:pPr>
              <a:defRPr sz="900" b="1">
                <a:solidFill>
                  <a:srgbClr val="475569"/>
                </a:solidFill>
                <a:latin typeface="Noto Sans SC"/>
              </a:defRPr>
            </a:pPr>
            <a:r>
              <a:t>现实困境：脉络难串联。高价值情报与工作上下文随用随散，无法沉淀为连贯完整的业务脉络。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090672"/>
            <a:ext cx="2194560" cy="9144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F1239"/>
                </a:solidFill>
                <a:latin typeface="Noto Sans SC"/>
              </a:defRPr>
            </a:pPr>
            <a:r>
              <a:t>高价值碎片随用随散</a:t>
            </a:r>
            <a:br/>
            <a:r>
              <a:t>被动孤立响应，难以沉淀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9144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2286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Noto Sans SC"/>
              </a:defRPr>
            </a:pPr>
            <a:r>
              <a:t>痛点 03 ｜ 缺乏认知沉淀</a:t>
            </a:r>
          </a:p>
          <a:p>
            <a:pPr>
              <a:defRPr sz="1500" b="1">
                <a:solidFill>
                  <a:srgbClr val="0F172A"/>
                </a:solidFill>
                <a:latin typeface="Noto Sans SC"/>
              </a:defRPr>
            </a:pPr>
            <a:r>
              <a:t>记忆死记硬背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53128"/>
            <a:ext cx="548640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现存记忆机制多停留在零散事实记录，未能真正理解用户的思考框架、工作标准与价值判断。</a:t>
            </a:r>
          </a:p>
          <a:p>
            <a:pPr>
              <a:defRPr sz="900" b="1">
                <a:solidFill>
                  <a:srgbClr val="475569"/>
                </a:solidFill>
                <a:latin typeface="Noto Sans SC"/>
              </a:defRPr>
            </a:pPr>
            <a:r>
              <a:t>现实困境：决策难同频。面对复杂新任务时，缺乏智能的自适应调用机制，不知何时用、用多少，依然无法像你一样精准决策。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507992"/>
            <a:ext cx="2194560" cy="9144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F1239"/>
                </a:solidFill>
                <a:latin typeface="Noto Sans SC"/>
              </a:defRPr>
            </a:pPr>
            <a:r>
              <a:t>记事实未学思维</a:t>
            </a:r>
            <a:br/>
            <a:r>
              <a:t>缺乏认知模型，难以自主决策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P4｜SoulAgent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Noto Sans SC"/>
              </a:defRPr>
            </a:pPr>
            <a:r>
              <a:t>SoulAgent = 越用越懂你的“个人智能”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5097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Noto Sans SC"/>
              </a:defRPr>
            </a:pPr>
            <a:r>
              <a:t>每一次对话都在持续进化：不仅把事实存进【记忆系统】，更把习惯与标准沉淀入【认知模型】。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F172A"/>
                </a:solidFill>
                <a:latin typeface="Noto Sans SC"/>
              </a:defRPr>
            </a:pPr>
            <a:r>
              <a:t>Session 01 ｜ 第一次写周报  [输入 80 字]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Noto Sans SC"/>
              </a:defRPr>
            </a:pPr>
            <a:r>
              <a:t>你说：“帮我写份汇报发给张总，多放数据，结论放最前面，不要客套话。”</a:t>
            </a:r>
          </a:p>
          <a:p>
            <a:pPr>
              <a:spcAft>
                <a:spcPts val="200"/>
              </a:spcAft>
              <a:defRPr sz="800">
                <a:solidFill>
                  <a:srgbClr val="059669"/>
                </a:solidFill>
                <a:latin typeface="Noto Sans SC"/>
              </a:defRPr>
            </a:pPr>
            <a:r>
              <a:t>🗄️ 写入记忆：张总角色、本周业务增长数据、当前项目背景</a:t>
            </a:r>
          </a:p>
          <a:p>
            <a:pPr>
              <a:defRPr sz="800">
                <a:solidFill>
                  <a:srgbClr val="7C3AED"/>
                </a:solidFill>
                <a:latin typeface="Noto Sans SC"/>
              </a:defRPr>
            </a:pPr>
            <a:r>
              <a:t>🧠 写入认知：给张总汇报的习惯：先说结论、用数据说话、不要客套话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F172A"/>
                </a:solidFill>
                <a:latin typeface="Noto Sans SC"/>
              </a:defRPr>
            </a:pPr>
            <a:r>
              <a:t>Session 02 ｜ 听 2 小时行业会  [帮我听]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Noto Sans SC"/>
              </a:defRPr>
            </a:pPr>
            <a:r>
              <a:t>你说：“把今天 2 小时的 AI 峰会录音听一下，挑跟我相关的发我。”</a:t>
            </a:r>
          </a:p>
          <a:p>
            <a:pPr>
              <a:spcAft>
                <a:spcPts val="200"/>
              </a:spcAft>
              <a:defRPr sz="800">
                <a:solidFill>
                  <a:srgbClr val="059669"/>
                </a:solidFill>
                <a:latin typeface="Noto Sans SC"/>
              </a:defRPr>
            </a:pPr>
            <a:r>
              <a:t>🗄️ 写入记忆：行业峰会核心观点、竞品新动态、关键时间戳</a:t>
            </a:r>
          </a:p>
          <a:p>
            <a:pPr>
              <a:defRPr sz="800">
                <a:solidFill>
                  <a:srgbClr val="7C3AED"/>
                </a:solidFill>
                <a:latin typeface="Noto Sans SC"/>
              </a:defRPr>
            </a:pPr>
            <a:r>
              <a:t>🧠 写入认知：我的关注点：重点看模型落地和端侧产品，跳过开场寒暄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F172A"/>
                </a:solidFill>
                <a:latin typeface="Noto Sans SC"/>
              </a:defRPr>
            </a:pPr>
            <a:r>
              <a:t>Session 03 ｜ 修改方案提要求  [立规矩]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Noto Sans SC"/>
              </a:defRPr>
            </a:pPr>
            <a:r>
              <a:t>你说：“方案太散了，以后只要做方案，必须按‘背景-问题-解法-排期’四个板块来。”</a:t>
            </a:r>
          </a:p>
          <a:p>
            <a:pPr>
              <a:spcAft>
                <a:spcPts val="200"/>
              </a:spcAft>
              <a:defRPr sz="800">
                <a:solidFill>
                  <a:srgbClr val="059669"/>
                </a:solidFill>
                <a:latin typeface="Noto Sans SC"/>
              </a:defRPr>
            </a:pPr>
            <a:r>
              <a:t>🗄️ 写入记忆：本次方案存在的问题和修改后的最终版本</a:t>
            </a:r>
          </a:p>
          <a:p>
            <a:pPr>
              <a:defRPr sz="800">
                <a:solidFill>
                  <a:srgbClr val="7C3AED"/>
                </a:solidFill>
                <a:latin typeface="Noto Sans SC"/>
              </a:defRPr>
            </a:pPr>
            <a:r>
              <a:t>🧠 写入认知：我做方案的固定规矩：必须严格按四板块结构展开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F172A"/>
                </a:solidFill>
                <a:latin typeface="Noto Sans SC"/>
              </a:defRPr>
            </a:pPr>
            <a:r>
              <a:t>Session 04 ｜ 整理开会纪要  [会后协同]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Noto Sans SC"/>
              </a:defRPr>
            </a:pPr>
            <a:r>
              <a:t>你说：“把刚才 5 个人的开会录音整理成纪要，发给大家。”</a:t>
            </a:r>
          </a:p>
          <a:p>
            <a:pPr>
              <a:spcAft>
                <a:spcPts val="200"/>
              </a:spcAft>
              <a:defRPr sz="800">
                <a:solidFill>
                  <a:srgbClr val="059669"/>
                </a:solidFill>
                <a:latin typeface="Noto Sans SC"/>
              </a:defRPr>
            </a:pPr>
            <a:r>
              <a:t>🗄️ 写入记忆：参会人员姓名、会上争论的问题、定下来的 3 个待办</a:t>
            </a:r>
          </a:p>
          <a:p>
            <a:pPr>
              <a:defRPr sz="800">
                <a:solidFill>
                  <a:srgbClr val="7C3AED"/>
                </a:solidFill>
                <a:latin typeface="Noto Sans SC"/>
              </a:defRPr>
            </a:pPr>
            <a:r>
              <a:t>🧠 写入认知：整理会议的习惯：分歧客观记录、待办写清责任人和截止时间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56616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F172A"/>
                </a:solidFill>
                <a:latin typeface="Noto Sans SC"/>
              </a:defRPr>
            </a:pPr>
            <a:r>
              <a:t>Session 05 ｜ 起草新项目方案  [输入 10 个字]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Noto Sans SC"/>
              </a:defRPr>
            </a:pPr>
            <a:r>
              <a:t>你说：“帮我起草一份新项目的立项方案。”</a:t>
            </a:r>
          </a:p>
          <a:p>
            <a:pPr>
              <a:spcAft>
                <a:spcPts val="200"/>
              </a:spcAft>
              <a:defRPr sz="800">
                <a:solidFill>
                  <a:srgbClr val="059669"/>
                </a:solidFill>
                <a:latin typeface="Noto Sans SC"/>
              </a:defRPr>
            </a:pPr>
            <a:r>
              <a:t>🗄️ 调用记忆：新项目的基本目标和相关业务背景</a:t>
            </a:r>
          </a:p>
          <a:p>
            <a:pPr>
              <a:defRPr sz="800">
                <a:solidFill>
                  <a:srgbClr val="7C3AED"/>
                </a:solidFill>
                <a:latin typeface="Noto Sans SC"/>
              </a:defRPr>
            </a:pPr>
            <a:r>
              <a:t>🧠 应用认知：自动套用 Session 03 的“四板块”规矩，不用再教一遍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566160"/>
            <a:ext cx="3383280" cy="1920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2563EB"/>
                </a:solidFill>
                <a:latin typeface="Noto Sans SC"/>
              </a:defRPr>
            </a:pPr>
            <a:r>
              <a:t>Session 06 ｜ 主动提醒（用上以前听到的）  [主动提醒 · 0字]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Noto Sans SC"/>
              </a:defRPr>
            </a:pPr>
            <a:r>
              <a:t>AI 主动找你：“你正在看的方案，跟上周你让我听的行业峰会里嘉宾讲的坑一模一样，我把要点给你翻出来了！”</a:t>
            </a:r>
          </a:p>
          <a:p>
            <a:pPr>
              <a:spcAft>
                <a:spcPts val="200"/>
              </a:spcAft>
              <a:defRPr sz="800">
                <a:solidFill>
                  <a:srgbClr val="059669"/>
                </a:solidFill>
                <a:latin typeface="Noto Sans SC"/>
              </a:defRPr>
            </a:pPr>
            <a:r>
              <a:t>🗄️ 写入记忆：当前技术方案与历史会议内容的关联记录</a:t>
            </a:r>
          </a:p>
          <a:p>
            <a:pPr>
              <a:defRPr sz="800">
                <a:solidFill>
                  <a:srgbClr val="7C3AED"/>
                </a:solidFill>
                <a:latin typeface="Noto Sans SC"/>
              </a:defRPr>
            </a:pPr>
            <a:r>
              <a:t>🧠 写入认知：发现相关业务风险时，主动调取历史听到的资料提醒我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“ 每一次交互不仅是办完一件事，更是把事实存入【记忆系统】、把习惯与准则固化入【认知模型】——越用越懂你，甚至主动为你把关。 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P5｜场景一：帮我听 · 带回我关注的信息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Noto Sans SC"/>
              </a:defRPr>
            </a:pPr>
            <a:r>
              <a:t>帮我听——替我感知外部世界，带回我关注的信息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5097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Noto Sans SC"/>
              </a:defRPr>
            </a:pPr>
            <a:r>
              <a:t>你不可能亲自出现在所有现场，让 SoulAgent 替你驻守、感知并带回与你强相关的核心情报。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2563EB"/>
                </a:solidFill>
                <a:latin typeface="Noto Sans SC"/>
              </a:defRPr>
            </a:pPr>
            <a:r>
              <a:t>【 替我感知海量场景 】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Noto Sans SC"/>
              </a:defRPr>
            </a:pPr>
            <a:r>
              <a:t>驻守任意关键信息源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🎤 行业峰会 / 论坛：多场并行分论坛无暇分身，AI 替我逐场深度精听。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🚀 发布会 &amp; 行业直播：实时追踪新品发布、竞对动态与行业路演。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📺 B站 / 访谈播客 / 视频：数小时深度对谈与长视频，无需手动快进。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📚 系列专业课程：体系化长课程自动梳理，免去几十小时死磕。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7C3AED"/>
                </a:solidFill>
                <a:latin typeface="Noto Sans SC"/>
              </a:defRPr>
            </a:pPr>
            <a:r>
              <a:t>【 AI 在后台做什么 】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Noto Sans SC"/>
              </a:defRPr>
            </a:pPr>
            <a:r>
              <a:t>深度理解与精准过滤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🔍 全量长音视频多模态解析：深度理解讲者演讲逻辑、展示图表与数据论据。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⚡ 智能过滤口水冗余：剔除客套暖场、无意义寒暄与无关插曲，直击干货结论。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🎯 实时匹配个人 Context：对照你当前负责的业务方向、技术课题与关注焦点定向捕捉。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059669"/>
                </a:solidFill>
                <a:latin typeface="Noto Sans SC"/>
              </a:defRPr>
            </a:pPr>
            <a:r>
              <a:t>【 会带给我什么 】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Noto Sans SC"/>
              </a:defRPr>
            </a:pPr>
            <a:r>
              <a:t>即时可用的专属成果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⏱️ 极致释放个人精力：省下数小时盯盘听会时间，同时掌握多领域全局动态，绝不错失要点。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📑 结构化专属知识卡片：带时间戳的核心观点、论据金句与全景脑图，3 分钟即可速览。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• 💡 业务关联与决策素材：自动识别与我相关，提供后续思考与行动参考。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“ 第一步【帮我听】：AI 不再只是被动等待你提问，而是替你主动感知世界，跨越时空局限，把海量增量直接转化为属于你的专属情报。 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P6｜场景二：帮我做 · 融入我的认知与思维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Noto Sans SC"/>
              </a:defRPr>
            </a:pPr>
            <a:r>
              <a:t>帮我做——融入我的认知与思维，像我一样精准执行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5097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Noto Sans SC"/>
              </a:defRPr>
            </a:pPr>
            <a:r>
              <a:t>AI 不仅是执行指令，而是理解你的思考惯性、价值立场与专业认知，输出真正契合你心理预期的高质量成果。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374903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300" b="1">
                <a:solidFill>
                  <a:srgbClr val="2563EB"/>
                </a:solidFill>
                <a:latin typeface="Noto Sans SC"/>
              </a:defRPr>
            </a:pPr>
            <a:r>
              <a:t>教育场景 ｜ 教师智能工作台   [作业批改 &amp; 学情诊断]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融入教学思维 · 懂教师偏好 · 知学生学情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📝 智能批改作业与针对性讲评</a:t>
            </a:r>
            <a:br/>
            <a:r>
              <a:t>  不仅指出对错，更按老师一贯的讲评逻辑给出有温度、启发式的个性化批语，契合老师的育人标准。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👩‍🎓 知晓学生历史轨迹与薄弱点</a:t>
            </a:r>
            <a:br/>
            <a:r>
              <a:t>  自动关联学生过往错题与认知卡点，生成差异化辅导建议，真正实现因材施教。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📊 班级共性态势与教学调整</a:t>
            </a:r>
            <a:br/>
            <a:r>
              <a:t>  提炼全班共性易错项，辅助班主任调整下周教学重点与家校沟通策略。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300" b="1">
                <a:solidFill>
                  <a:srgbClr val="7C3AED"/>
                </a:solidFill>
                <a:latin typeface="Noto Sans SC"/>
              </a:defRPr>
            </a:pPr>
            <a:r>
              <a:t>工作场景 ｜ PPT 策划与智能生成   [场景定制 &amp; 汇报生成]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懂汇报场景 · 懂侧重风格 · 懂表达习惯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🎯 适配不同场景与侧重点</a:t>
            </a:r>
            <a:br/>
            <a:r>
              <a:t>  给领导汇报重商业价值与结论，技术评审重架构与落地路径，对外提案重痛点与收益，自动匹配侧重点。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🎨 契合个人风格与叙事习惯</a:t>
            </a:r>
            <a:br/>
            <a:r>
              <a:t>  理解你一贯的逻辑结构（结论先行/金字塔原理）、语言风格与排版审美，彻底摆脱千篇一律的通用模板。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📑 结合历史沉淀与项目 Context</a:t>
            </a:r>
            <a:br/>
            <a:r>
              <a:t>  自动调取过往业务数据与项目背景，生成论据扎实、逻辑自洽的高质量 PPT，极大减少排版与修改成本。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10728655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50" b="1">
                <a:solidFill>
                  <a:srgbClr val="0F172A"/>
                </a:solidFill>
                <a:latin typeface="Noto Sans SC"/>
              </a:defRPr>
            </a:pPr>
            <a:r>
              <a:t>对比传统 AI：仅凭单次 Prompt 生成机械套话，需大量人工返工；</a:t>
            </a:r>
            <a:br/>
            <a:r>
              <a:t>SoulAgent【帮我做】：融入个人认知 + 历史思维脉络 + 业务专业逻辑 ➔ 一次成稿即达可用标准。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“ 第二步【帮我做】：只有当 AI 真正融入了你的认知模型与思维惯性，它的行动才不再是机械执行，而是有灵魂的深度协作。 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P7｜场景三：代表我 · 成为我的数字延伸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Noto Sans SC"/>
              </a:defRPr>
            </a:pPr>
            <a:r>
              <a:t>代表我——成为数字延伸，实现智慧与资产规模化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5097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Noto Sans SC"/>
              </a:defRPr>
            </a:pPr>
            <a:r>
              <a:t>超越工具协助，SoulAgent 沉淀独特的思维逻辑、认知结构与专业偏好，升级为代表个人与组织创造价值的数字分身。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374903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300" b="1">
                <a:solidFill>
                  <a:srgbClr val="2563EB"/>
                </a:solidFill>
                <a:latin typeface="Noto Sans SC"/>
              </a:defRPr>
            </a:pPr>
            <a:r>
              <a:t>🎓 专家分身 ｜ 个人智慧与影响力规模化   [智慧资产化]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学习思维模式 · 认知结构 · 专业偏好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🧠 核心沉淀：思维逻辑与决策直觉</a:t>
            </a:r>
            <a:br/>
            <a:r>
              <a:t>  不仅是知识检索，更深度沉淀专家的分析框架、专业认知、价值判断与表达偏好，让分身具备专家的思考灵魂。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🌐 核心价值：突破精力瓶颈，无限并发赋能</a:t>
            </a:r>
            <a:br/>
            <a:r>
              <a:t>  打破个人时间与精力的物理天花板，从“1 个专家只能服务少数人”，跃升为“1 个专家分身 7×24h 规模化答疑赋能”。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🌟 宏观收益：扩大个人影响力 · 普惠造福社会</a:t>
            </a:r>
            <a:br/>
            <a:r>
              <a:t>  让稀缺的顶尖专业智慧无门槛普惠大众，实现专家智慧终身资产化，最大化社会价值与个人品牌影响力。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300" b="1">
                <a:solidFill>
                  <a:srgbClr val="059669"/>
                </a:solidFill>
                <a:latin typeface="Noto Sans SC"/>
              </a:defRPr>
            </a:pPr>
            <a:r>
              <a:t>🏢 数字员工 ｜ 团队经验与组织资产沉淀   [经验资产化]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Noto Sans SC"/>
              </a:defRPr>
            </a:pPr>
            <a:r>
              <a:t>沉淀岗位认知 · SOP · 业务习惯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📑 核心沉淀：岗位经验与业务直觉</a:t>
            </a:r>
            <a:br/>
            <a:r>
              <a:t>  将核心骨干多年积累的实战经验、审核偏好、风控直觉与业务 SOP 高保真固化，形成组织共享认知。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👥 核心价值：业务无缝传承，永不下线的生产力</a:t>
            </a:r>
            <a:br/>
            <a:r>
              <a:t>  人员流动不再造成业务断层，新人即时调用“金牌前任分身”协同；多数字员工组成全天候自主协同的生产力集群。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Noto Sans SC"/>
              </a:defRPr>
            </a:pPr>
            <a:r>
              <a:t>• 🔒 宏观收益：组织经验永续留存 · 数据不出域</a:t>
            </a:r>
            <a:br/>
            <a:r>
              <a:t>  组织隐性智慧化为永不流失的核心数字资产，并在团队内部持续自我进化，推动组织效能倍数级跃迁。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10728655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50" b="1">
                <a:solidFill>
                  <a:srgbClr val="0F172A"/>
                </a:solidFill>
                <a:latin typeface="Noto Sans SC"/>
              </a:defRPr>
            </a:pPr>
            <a:r>
              <a:t>从工具到延伸：传统 AI 只是单次被动应答的外部工具；</a:t>
            </a:r>
            <a:br/>
            <a:r>
              <a:t>SoulAgent【代表我】：深度沉淀个人与组织的思维认知 ➔ 专家分身普惠造福社会，数字员工永续组织数字资产。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08076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 b="1">
                <a:solidFill>
                  <a:srgbClr val="2563EB"/>
                </a:solidFill>
                <a:latin typeface="Noto Sans SC"/>
              </a:defRPr>
            </a:pPr>
            <a:r>
              <a:t>“ 第三步【代表我】：从人使用 AI跃升为AI 代表人与组织，让顶尖智慧普惠化、规模化，让组织核心经验沉淀为数字资产。 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